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  <p:sldId id="266" r:id="rId12"/>
    <p:sldId id="267" r:id="rId13"/>
    <p:sldId id="269" r:id="rId14"/>
    <p:sldId id="268" r:id="rId15"/>
    <p:sldId id="270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82093"/>
  </p:normalViewPr>
  <p:slideViewPr>
    <p:cSldViewPr snapToGrid="0">
      <p:cViewPr varScale="1">
        <p:scale>
          <a:sx n="100" d="100"/>
          <a:sy n="100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B54AF-39E4-C544-BB59-469E552704AF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8C1DB-FBFA-5940-9F1D-8EE5E1193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6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target is </a:t>
            </a:r>
            <a:r>
              <a:rPr lang="en-US" b="1" dirty="0"/>
              <a:t>imbalanced</a:t>
            </a:r>
            <a:r>
              <a:rPr lang="en-US" dirty="0"/>
              <a:t>. A large majority of customers (5,174) did not churn, while 1,869 did. This imbalance is our main technical challenge, as it can bias a model. This is why we must use a technique like </a:t>
            </a:r>
            <a:r>
              <a:rPr lang="en-US" b="1" dirty="0"/>
              <a:t>SMOTE</a:t>
            </a:r>
            <a:r>
              <a:rPr lang="en-US" dirty="0"/>
              <a:t> to get a reliable result.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8C1DB-FBFA-5940-9F1D-8EE5E11935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31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tenure (how long someone has been a customer) is split into two main groups: a large number of brand-new customers (left) and a large number of long-term, loyal customers (right). This suggests we are losing customers </a:t>
            </a:r>
            <a:r>
              <a:rPr lang="en-US" i="1" dirty="0"/>
              <a:t>before</a:t>
            </a:r>
            <a:r>
              <a:rPr lang="en-US" dirty="0"/>
              <a:t> they become loyal.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8C1DB-FBFA-5940-9F1D-8EE5E11935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41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heatmap shows the relationship between key numerical features. As expected, </a:t>
            </a:r>
            <a:r>
              <a:rPr lang="en-US" b="1" dirty="0"/>
              <a:t>tenure</a:t>
            </a:r>
            <a:r>
              <a:rPr lang="en-US" dirty="0"/>
              <a:t> and </a:t>
            </a:r>
            <a:r>
              <a:rPr lang="en-US" b="1" dirty="0" err="1"/>
              <a:t>TotalCharges</a:t>
            </a:r>
            <a:r>
              <a:rPr lang="en-US" dirty="0"/>
              <a:t> are very strongly correlated (0.83)—the longer a customer stays, the more they pay in total.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8C1DB-FBFA-5940-9F1D-8EE5E11935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7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Senior citizens churn at a rate of </a:t>
            </a:r>
            <a:r>
              <a:rPr lang="en-US" b="1" dirty="0"/>
              <a:t>41.7%</a:t>
            </a:r>
            <a:r>
              <a:rPr lang="en-US" dirty="0"/>
              <a:t>, which is nearly double the rate of non-seniors (23.6%). This makes it a clear and important predictive signal for the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8C1DB-FBFA-5940-9F1D-8EE5E11935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46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Customers on a </a:t>
            </a:r>
            <a:r>
              <a:rPr lang="en-US" b="1" dirty="0"/>
              <a:t>Month-to-Month contract churn at an alarming rate (42.7%)</a:t>
            </a:r>
            <a:r>
              <a:rPr lang="en-US" dirty="0"/>
              <a:t>. In contrast, customers on One-year (11.3%) or Two-year (2.8%) contracts are significantly more loyal.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8C1DB-FBFA-5940-9F1D-8EE5E11935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08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dirty="0" err="1"/>
              <a:t>Streamlit</a:t>
            </a:r>
            <a:r>
              <a:rPr lang="en-US" dirty="0"/>
              <a:t> web application was built to deploy the model. The retention team can now input any customer's details and get an instant, actionable "Churn Risk" prediction.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8C1DB-FBFA-5940-9F1D-8EE5E11935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26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6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3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866333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6299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4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15600" y="866333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1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15600" y="866333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3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5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3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1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7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4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879261" y="5525600"/>
            <a:ext cx="1312735" cy="13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5600" y="8663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5600" y="16299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C9DC54E1-5D07-3741-9C61-3A5A2B80153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8133" y="87115"/>
            <a:ext cx="2551232" cy="587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03315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3947-8442-0427-D265-6B47E83C67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A Predictive Analytics Approach to Customer Attrition in the Telecommunications Sector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AE583-FC01-65C7-A8D6-D5CAEED2B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Guidance</a:t>
            </a:r>
          </a:p>
          <a:p>
            <a:pPr marL="0" lvl="0" indent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under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/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Prof. </a:t>
            </a:r>
            <a:r>
              <a:rPr lang="en-US" sz="2000" b="1" i="1" dirty="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2000" b="1" i="1" dirty="0" err="1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Chaojie</a:t>
            </a:r>
            <a:r>
              <a:rPr lang="en-US" sz="2000" b="1" i="1" dirty="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(Jay) Wang</a:t>
            </a:r>
          </a:p>
          <a:p>
            <a:pPr marL="0" lvl="0" indent="0"/>
            <a:endParaRPr lang="en-US" sz="2000" b="1" i="1" u="sng" dirty="0">
              <a:solidFill>
                <a:srgbClr val="1F2328"/>
              </a:solidFill>
              <a:highlight>
                <a:srgbClr val="FFFFFF"/>
              </a:highlight>
              <a:latin typeface="Times New Roman"/>
              <a:cs typeface="Times New Roman"/>
              <a:sym typeface="Times New Roman"/>
            </a:endParaRPr>
          </a:p>
          <a:p>
            <a:pPr marL="0" lvl="0" indent="0"/>
            <a:r>
              <a:rPr lang="en-US" sz="2000" i="1" dirty="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cs typeface="Times New Roman"/>
                <a:sym typeface="Times New Roman"/>
              </a:rPr>
              <a:t>Presented by: </a:t>
            </a:r>
            <a:r>
              <a:rPr lang="en-US" sz="2000" b="1" i="1" dirty="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cs typeface="Times New Roman"/>
                <a:sym typeface="Times New Roman"/>
              </a:rPr>
              <a:t>Gowtham Krishna Sai Relangi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6116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49B7-9043-3DFB-92D0-2BE6495E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Customer Churn Matters..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F64182-B03D-7228-203D-380029F8B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3927" y="2640475"/>
            <a:ext cx="106144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Churn (or attrition) is when customers cancel their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It's a major drain on revenue and market 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Acquiring a new customer is far more expensive than keeping an existing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stop being reactive and become proactive.</a:t>
            </a:r>
          </a:p>
        </p:txBody>
      </p:sp>
    </p:spTree>
    <p:extLst>
      <p:ext uri="{BB962C8B-B14F-4D97-AF65-F5344CB8AC3E}">
        <p14:creationId xmlns:p14="http://schemas.microsoft.com/office/powerpoint/2010/main" val="294486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05F9-13C2-A400-C130-AEE47DB6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A72DD3-5CC0-C994-7806-0DB0A1202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2345514"/>
            <a:ext cx="112647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predictive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accurately forecast customer churn using historical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drivers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churn by analyzing which customer factors are the most important predictors.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machine learning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(Decision Tree, Random Forest,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determine the most effective model for this problem.</a:t>
            </a:r>
          </a:p>
        </p:txBody>
      </p:sp>
    </p:spTree>
    <p:extLst>
      <p:ext uri="{BB962C8B-B14F-4D97-AF65-F5344CB8AC3E}">
        <p14:creationId xmlns:p14="http://schemas.microsoft.com/office/powerpoint/2010/main" val="179648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A0AD-B441-DF22-D6FA-E2B9987C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BE925F-417B-1FB3-7E9E-73AB08262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548643"/>
            <a:ext cx="1155868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historical Telco customer churn dataset with 7,043 customer records and 21 features.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Categories: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SeniorCitizen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Partner, Dependents)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(e.g.,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InternetService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OnlineSecurity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TechSupport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 Info: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e.g., Contract,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PaymentMethod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MonthlyCharges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Churn - a "Yes" or "No" label for attrition.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data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imbalanced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 large majority of customers did not churn, making it difficult for a model to learn to predict the rare "Yes" (churn) event.</a:t>
            </a:r>
          </a:p>
        </p:txBody>
      </p:sp>
    </p:spTree>
    <p:extLst>
      <p:ext uri="{BB962C8B-B14F-4D97-AF65-F5344CB8AC3E}">
        <p14:creationId xmlns:p14="http://schemas.microsoft.com/office/powerpoint/2010/main" val="413379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FC7E-337D-CD26-1A21-6DF8E629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ADB6B-D6F4-135D-F743-44C4E94D9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endParaRPr lang="en-US" dirty="0"/>
          </a:p>
        </p:txBody>
      </p:sp>
      <p:pic>
        <p:nvPicPr>
          <p:cNvPr id="5" name="Picture 4" descr="A graph with a blue and red rectangle&#10;&#10;AI-generated content may be incorrect.">
            <a:extLst>
              <a:ext uri="{FF2B5EF4-FFF2-40B4-BE49-F238E27FC236}">
                <a16:creationId xmlns:a16="http://schemas.microsoft.com/office/drawing/2014/main" id="{82EC1217-4C25-F7CD-5FEA-802E4541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60"/>
          <a:stretch>
            <a:fillRect/>
          </a:stretch>
        </p:blipFill>
        <p:spPr>
          <a:xfrm>
            <a:off x="2433278" y="1629933"/>
            <a:ext cx="6749142" cy="41930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77A8BF-FC1E-88E5-5007-95760866ECD1}"/>
              </a:ext>
            </a:extLst>
          </p:cNvPr>
          <p:cNvSpPr txBox="1"/>
          <p:nvPr/>
        </p:nvSpPr>
        <p:spPr>
          <a:xfrm>
            <a:off x="2318657" y="1295400"/>
            <a:ext cx="3894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sure to keep the text in the </a:t>
            </a:r>
            <a:r>
              <a:rPr lang="en-US"/>
              <a:t>notes column</a:t>
            </a:r>
          </a:p>
        </p:txBody>
      </p:sp>
    </p:spTree>
    <p:extLst>
      <p:ext uri="{BB962C8B-B14F-4D97-AF65-F5344CB8AC3E}">
        <p14:creationId xmlns:p14="http://schemas.microsoft.com/office/powerpoint/2010/main" val="117885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6CF1-04CD-F660-B43F-7B56ECDA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33DE6-B5E4-F22B-D78C-974CCC714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with a bar graph&#10;&#10;AI-generated content may be incorrect.">
            <a:extLst>
              <a:ext uri="{FF2B5EF4-FFF2-40B4-BE49-F238E27FC236}">
                <a16:creationId xmlns:a16="http://schemas.microsoft.com/office/drawing/2014/main" id="{37A4728D-4265-4814-27E3-4022FBDB2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542" y="1629933"/>
            <a:ext cx="7699829" cy="433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7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B2A4-528E-4B2F-2CFC-5D284847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BE03-82CD-20E1-EF4E-9622356C2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1983136-3A91-0BEE-D418-808B21D2E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685" y="1629933"/>
            <a:ext cx="5529943" cy="460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7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7C97-89E4-CC47-B17A-C15EE8F9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Cont..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FFB8E-0F25-4A2D-8DB0-FF0267D05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of a person's status&#10;&#10;AI-generated content may be incorrect.">
            <a:extLst>
              <a:ext uri="{FF2B5EF4-FFF2-40B4-BE49-F238E27FC236}">
                <a16:creationId xmlns:a16="http://schemas.microsoft.com/office/drawing/2014/main" id="{83F32076-A527-D863-EF56-D6793DD6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000"/>
          <a:stretch>
            <a:fillRect/>
          </a:stretch>
        </p:blipFill>
        <p:spPr>
          <a:xfrm>
            <a:off x="2315027" y="1629933"/>
            <a:ext cx="6556829" cy="428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6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59A7-3C28-1B6F-3EF6-9585F75D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C6134-D3CD-4C2F-05AF-FB4B7FB26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9EF7DBE-1836-62DA-EA11-A896434BDB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571"/>
          <a:stretch>
            <a:fillRect/>
          </a:stretch>
        </p:blipFill>
        <p:spPr>
          <a:xfrm>
            <a:off x="2587171" y="1629933"/>
            <a:ext cx="5903686" cy="412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63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BFB5-0A52-6289-8DDB-9EAF68B6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ED36E7-09E3-0CD3-F16E-9FB65B864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720840"/>
            <a:ext cx="111014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all categorical data (like "Yes"/"No") into numbers so that the model can understand.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Data (SMOTE):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a technique called SMOTE on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data only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synthetic "Yes" examples. This stops the model from just guessing "No" all the time.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Data (80/20):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the data into a training set (to build the model) and a test set (to check its real-world performance).</a:t>
            </a:r>
          </a:p>
        </p:txBody>
      </p:sp>
    </p:spTree>
    <p:extLst>
      <p:ext uri="{BB962C8B-B14F-4D97-AF65-F5344CB8AC3E}">
        <p14:creationId xmlns:p14="http://schemas.microsoft.com/office/powerpoint/2010/main" val="275591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F5D5-FAA9-64B0-13ED-A7F4C737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Design and Selection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8BB7C1-EB69-0212-EF17-6B6C7FA8B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576125"/>
            <a:ext cx="11776400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Comparison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Decision Tree (78%), Random Forest (84%),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(83%).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5-fold cross-validation on the balanced (SMOTE)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selected as the champion model due to its high 84% baseline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RandomizedSearchCV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Random Forest model.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optimized its settings for our specific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Model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result was our final, tuned Random Forest model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85%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9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408A-DEC2-B1F0-85CF-4A2CB0AA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Accuracies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CDFA3-4446-B9D6-C0FE-9E8817F8C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9C9F0F5-E64F-60B6-E642-89A57848D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50" y="2763157"/>
            <a:ext cx="9049900" cy="22878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7653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6204-02B8-702F-4661-3010F5AD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7D3B1-8590-14E6-F030-5BE55AE78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184407-81C0-CF84-A80F-9657553D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700" y="2262883"/>
            <a:ext cx="6235700" cy="3289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F6B8E51-5EA2-57F3-A0D4-ADB1B38DE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0" y="1931770"/>
            <a:ext cx="501637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Accuracy: 78%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the model's general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(for Churn): 60%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our most important metric.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means we successfully find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out of 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 who are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risk of churning.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(for Churn): 58%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our model flags a customer as "at-risk," 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58% of the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is a solid, proactive tool. It successfully identifies the majority (60%) of churners, allowing the company to intervene.</a:t>
            </a:r>
          </a:p>
        </p:txBody>
      </p:sp>
    </p:spTree>
    <p:extLst>
      <p:ext uri="{BB962C8B-B14F-4D97-AF65-F5344CB8AC3E}">
        <p14:creationId xmlns:p14="http://schemas.microsoft.com/office/powerpoint/2010/main" val="168379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6FB1-1933-308A-7635-1B915180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AFF30-DD11-0798-8D3D-F4A213B0C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8A943-71E7-DC29-4BFD-BF6357FC0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9933"/>
            <a:ext cx="7772400" cy="38939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3670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8540-C79F-D855-ACB7-0B9BE180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35FA25-C24C-3329-4403-7E861221D7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629933"/>
            <a:ext cx="99726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successfully identifies 60% of at-risk customers (60% Recall).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Drivers: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 is driven by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Contract type, tenure, and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SeniorCitizen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status.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 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proved to be the most accurate model (78% overall).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ready for use by the retention team.</a:t>
            </a:r>
          </a:p>
        </p:txBody>
      </p:sp>
    </p:spTree>
    <p:extLst>
      <p:ext uri="{BB962C8B-B14F-4D97-AF65-F5344CB8AC3E}">
        <p14:creationId xmlns:p14="http://schemas.microsoft.com/office/powerpoint/2010/main" val="3156507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8EBA-EFC7-51A2-F619-72B8E6299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1465-5769-343E-CB69-94E74C556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681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6FEA3F29-B4F5-0E45-A6D7-8C606ADE35BA}" vid="{AD64B30C-211B-EC42-B880-24C2DC3C21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424</TotalTime>
  <Words>869</Words>
  <Application>Microsoft Macintosh PowerPoint</Application>
  <PresentationFormat>Widescreen</PresentationFormat>
  <Paragraphs>76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 Unicode MS</vt:lpstr>
      <vt:lpstr>Aptos</vt:lpstr>
      <vt:lpstr>Arial</vt:lpstr>
      <vt:lpstr>Times New Roman</vt:lpstr>
      <vt:lpstr>Theme3</vt:lpstr>
      <vt:lpstr>A Predictive Analytics Approach to Customer Attrition in the Telecommunications Sector</vt:lpstr>
      <vt:lpstr>Why Customer Churn Matters..</vt:lpstr>
      <vt:lpstr>Objectives</vt:lpstr>
      <vt:lpstr>Data Overview</vt:lpstr>
      <vt:lpstr>EDA</vt:lpstr>
      <vt:lpstr>EDA Cont…</vt:lpstr>
      <vt:lpstr>EDA Cont…</vt:lpstr>
      <vt:lpstr>EDA Cont..</vt:lpstr>
      <vt:lpstr>EDA Cont…</vt:lpstr>
      <vt:lpstr>Data Preparation</vt:lpstr>
      <vt:lpstr>Model Design and Selection</vt:lpstr>
      <vt:lpstr>Model Accuracies</vt:lpstr>
      <vt:lpstr>Classification Report</vt:lpstr>
      <vt:lpstr>Application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RELANGI GOWTHAM KRISHNA SAI</dc:creator>
  <cp:lastModifiedBy>RELANGI GOWTHAM KRISHNA SAI</cp:lastModifiedBy>
  <cp:revision>3</cp:revision>
  <dcterms:created xsi:type="dcterms:W3CDTF">2025-11-13T17:49:34Z</dcterms:created>
  <dcterms:modified xsi:type="dcterms:W3CDTF">2025-12-07T02:21:44Z</dcterms:modified>
</cp:coreProperties>
</file>